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20e173c4-eafd-471b-ed2c-14c4de062e2f}">
          <p14:sldIdLst>
            <p14:sldId id="256"/>
          </p14:sldIdLst>
        </p14:section>
        <p14:section name="Presentation Outline" id="{9f62d3f7-43c0-7df0-e6f7-faa5816042fb}">
          <p14:sldIdLst>
            <p14:sldId id="257"/>
          </p14:sldIdLst>
        </p14:section>
        <p14:section name="Problem Statement" id="{8112addc-91ad-a8c7-8363-1b490fa0d281}">
          <p14:sldIdLst>
            <p14:sldId id="258"/>
          </p14:sldIdLst>
        </p14:section>
        <p14:section name="Problem Understanding" id="{b04eb1ad-0243-43fb-ea22-e7f7fcfad9ec}">
          <p14:sldIdLst>
            <p14:sldId id="259"/>
          </p14:sldIdLst>
        </p14:section>
        <p14:section name="Existing Gaps &amp; Challenges" id="{efd0090f-85e4-561f-16d7-0c0a9e87fc23}">
          <p14:sldIdLst>
            <p14:sldId id="260"/>
            <p14:sldId id="262"/>
          </p14:sldIdLst>
        </p14:section>
        <p14:section name="Our Proposed Solution" id="{814ecb8f-b777-80fa-7a73-221997840071}">
          <p14:sldIdLst>
            <p14:sldId id="261"/>
          </p14:sldIdLst>
        </p14:section>
        <p14:section name="Technical Approach" id="{820453d7-7313-937d-e155-a0e1a127f970}">
          <p14:sldIdLst/>
        </p14:section>
        <p14:section name="Innovation &amp; Uniqueness" id="{cb90485e-013e-9f7c-f340-7b0b7b2769c4}">
          <p14:sldIdLst>
            <p14:sldId id="263"/>
          </p14:sldIdLst>
        </p14:section>
        <p14:section name="Feasibility &amp; Scalability" id="{f96d956f-4243-417a-1624-ee2ea7b6dd1e}">
          <p14:sldIdLst>
            <p14:sldId id="264"/>
          </p14:sldIdLst>
        </p14:section>
        <p14:section name="Cost for Product (Optional)" id="{57436875-e4f8-2f6d-4d95-77d1f48c5812}">
          <p14:sldIdLst>
            <p14:sldId id="265"/>
          </p14:sldIdLst>
        </p14:section>
        <p14:section name="Use Cases" id="{20c50380-c76c-75f9-da8d-a2c8ff5bee69}">
          <p14:sldIdLst>
            <p14:sldId id="266"/>
          </p14:sldIdLst>
        </p14:section>
        <p14:section name="Impacts and Benefits" id="{df5758cc-5ac4-4d01-db63-61c53f921d23}">
          <p14:sldIdLst>
            <p14:sldId id="267"/>
          </p14:sldIdLst>
        </p14:section>
        <p14:section name="Sustainable Development Goals (SDGs)" id="{17c18548-0dc8-04f6-bcd2-588f95a3970f}">
          <p14:sldIdLst>
            <p14:sldId id="268"/>
          </p14:sldIdLst>
        </p14:section>
        <p14:section name="Individual Member Contribution" id="{853307e6-df07-3505-6ef2-7ff0b4df0a77}">
          <p14:sldIdLst>
            <p14:sldId id="269"/>
          </p14:sldIdLst>
        </p14:section>
        <p14:section name="Yukti ID" id="{95454699-5478-6780-35df-9bc4772ad9da}">
          <p14:sldIdLst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tx2"/>
          </a:solidFill>
        </p:spPr>
      </p:sp>
      <p:pic>
        <p:nvPicPr>
          <p:cNvPr id="3" name="Image 0" descr="/home/claude/assets/amr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" y="731520"/>
            <a:ext cx="2212848" cy="950976"/>
          </a:xfrm>
          <a:prstGeom prst="rect">
            <a:avLst/>
          </a:prstGeom>
        </p:spPr>
      </p:pic>
      <p:pic>
        <p:nvPicPr>
          <p:cNvPr id="4" name="Image 1" descr="/home/claude/assets/i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822960"/>
            <a:ext cx="1737360" cy="749808"/>
          </a:xfrm>
          <a:prstGeom prst="rect">
            <a:avLst/>
          </a:prstGeom>
        </p:spPr>
      </p:pic>
      <p:pic>
        <p:nvPicPr>
          <p:cNvPr id="5" name="Image 2" descr="/home/claude/assets/gene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841248"/>
            <a:ext cx="877824" cy="722376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649224" y="1901952"/>
            <a:ext cx="7845552" cy="27432"/>
          </a:xfrm>
          <a:prstGeom prst="rect">
            <a:avLst/>
          </a:prstGeom>
          <a:solidFill>
            <a:schemeClr val="bg2"/>
          </a:solidFill>
        </p:spPr>
      </p:sp>
      <p:sp>
        <p:nvSpPr>
          <p:cNvPr id="7" name="Shape 2"/>
          <p:cNvSpPr/>
          <p:nvPr/>
        </p:nvSpPr>
        <p:spPr>
          <a:xfrm>
            <a:off x="649224" y="2414016"/>
            <a:ext cx="1737360" cy="64008"/>
          </a:xfrm>
          <a:prstGeom prst="rect">
            <a:avLst/>
          </a:prstGeom>
          <a:solidFill>
            <a:schemeClr val="accent1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30936"/>
          </a:xfrm>
          <a:prstGeom prst="rect">
            <a:avLst/>
          </a:prstGeom>
          <a:solidFill>
            <a:schemeClr val="bg2"/>
          </a:solidFill>
        </p:spPr>
      </p:sp>
      <p:sp>
        <p:nvSpPr>
          <p:cNvPr id="3" name="Shape 1"/>
          <p:cNvSpPr/>
          <p:nvPr/>
        </p:nvSpPr>
        <p:spPr>
          <a:xfrm>
            <a:off x="0" y="612648"/>
            <a:ext cx="9144000" cy="36576"/>
          </a:xfrm>
          <a:prstGeom prst="rect">
            <a:avLst/>
          </a:prstGeom>
          <a:solidFill>
            <a:schemeClr val="accent1"/>
          </a:solidFill>
        </p:spPr>
      </p:sp>
      <p:pic>
        <p:nvPicPr>
          <p:cNvPr id="4" name="Image 0" descr="/home/claude/assets/gen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136" y="91440"/>
            <a:ext cx="557784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chemeClr val="bg2"/>
          </a:solidFill>
        </p:spPr>
      </p:sp>
      <p:sp>
        <p:nvSpPr>
          <p:cNvPr id="6" name="Text 3"/>
          <p:cNvSpPr/>
          <p:nvPr/>
        </p:nvSpPr>
        <p:spPr>
          <a:xfrm>
            <a:off x="649224" y="6583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</a:rPr>
              <a:t>HACK ORBIT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846320" y="6583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2"/>
                </a:solidFill>
              </a:rPr>
              <a:t>11th October 2026</a:t>
            </a:r>
            <a:endParaRPr lang="en-US" sz="1000" dirty="0"/>
          </a:p>
        </p:txBody>
      </p:sp>
      <p:sp>
        <p:nvSpPr>
          <p:cNvPr id="8" name="Text 5"/>
          <p:cNvSpPr/>
          <p:nvPr>
            <p:ph type="title" idx="106" hasCustomPrompt="1"/>
          </p:nvPr>
        </p:nvSpPr>
        <p:spPr>
          <a:xfrm>
            <a:off x="649224" y="54864"/>
            <a:ext cx="7132320" cy="530352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9224" y="2697480"/>
            <a:ext cx="78455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Genesis Ideathon: Final Presentation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9224" y="3520440"/>
            <a:ext cx="7845552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" y="3520440"/>
            <a:ext cx="64008" cy="16916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3657600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Team ID: </a:t>
            </a:r>
            <a:r>
              <a:rPr lang="en-US" sz="2200" dirty="0">
                <a:solidFill>
                  <a:schemeClr val="tx1"/>
                </a:solidFill>
              </a:rPr>
              <a:t>GEN26-AOH-I011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7880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Team Name: </a:t>
            </a:r>
            <a:r>
              <a:rPr lang="en-US" sz="2200" dirty="0">
                <a:solidFill>
                  <a:schemeClr val="tx1"/>
                </a:solidFill>
              </a:rPr>
              <a:t>HACK ORBIT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63440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Domain: </a:t>
            </a:r>
            <a:r>
              <a:rPr lang="en-US" sz="2200" dirty="0">
                <a:solidFill>
                  <a:schemeClr val="tx1"/>
                </a:solidFill>
              </a:rPr>
              <a:t>Digital Technologies, AI &amp; Cyber Security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56692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Amrita Vishwa Vidyapeetham, Coimbatore Campus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5669280"/>
            <a:ext cx="28254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2"/>
                </a:solidFill>
              </a:rPr>
              <a:t>Date: </a:t>
            </a:r>
            <a:r>
              <a:rPr lang="en-US" sz="1600" dirty="0">
                <a:solidFill>
                  <a:schemeClr val="tx2"/>
                </a:solidFill>
              </a:rPr>
              <a:t>11th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type="title" idx="106" hasCustomPrompt="1"/>
          </p:nvPr>
        </p:nvSpPr>
        <p:spPr>
          <a:xfrm>
            <a:off x="649224" y="54864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Presentation Outline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2344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0848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848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848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Problem Understanding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93522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93522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35224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Existing Gaps &amp; Challenges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78561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78561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785616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Our Proposed Solution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463600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63600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63600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Technical Approach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486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4864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Innovation &amp; Uniqueness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09160" y="1234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09160" y="12344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12344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Feasibility &amp; Scalability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09160" y="20848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9160" y="20848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20848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Cost for Product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709160" y="293522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09160" y="293522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9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440680" y="2935224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Use Cases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709160" y="378561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09160" y="378561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10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5440680" y="3785616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Impacts and Benefits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709160" y="463600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09160" y="463600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11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5440680" y="463600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Sustainable Development Goals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709160" y="5486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09160" y="5486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12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5440680" y="54864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Individual Member Contribution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type="title" idx="106" hasCustomPrompt="1"/>
          </p:nvPr>
        </p:nvSpPr>
        <p:spPr>
          <a:xfrm>
            <a:off x="649224" y="54864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0380" y="1110615"/>
            <a:ext cx="4270375" cy="457327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6140" y="1051560"/>
            <a:ext cx="3432810" cy="512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Basic Network Packet Sniffer &amp; Analyzer</a:t>
            </a:r>
            <a:endParaRPr lang="en-US" sz="28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Everything we do online is chopped into tiny packets. Today it is hard for beginners to see them. We want a free tool that catches those packets and shows who is talking to whom, in plain English – like a CCTV camera for your Wi-Fi.</a:t>
            </a:r>
            <a:endParaRPr lang="en-US" sz="2800" dirty="0"/>
          </a:p>
        </p:txBody>
      </p:sp>
      <p:pic>
        <p:nvPicPr>
          <p:cNvPr id="6" name="Picture 5" descr="Screenshot 2026-10-11 1216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2535" y="1527810"/>
            <a:ext cx="3826510" cy="39300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type="title" idx="106" hasCustomPrompt="1"/>
          </p:nvPr>
        </p:nvSpPr>
        <p:spPr>
          <a:xfrm>
            <a:off x="649224" y="54864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Problem Understanding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7680960" cy="521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Who experiences this problem?</a:t>
            </a:r>
            <a:endParaRPr lang="en-US" sz="2200" b="1" dirty="0">
              <a:solidFill>
                <a:schemeClr val="tx2"/>
              </a:solidFill>
            </a:endParaRPr>
          </a:p>
          <a:p>
            <a:pPr indent="0">
              <a:lnSpc>
                <a:spcPct val="105000"/>
              </a:lnSpc>
              <a:spcAft>
                <a:spcPts val="2200"/>
              </a:spcAft>
              <a:buSzPct val="100000"/>
              <a:buNone/>
            </a:pPr>
            <a:r>
              <a:rPr lang="en-US" dirty="0">
                <a:solidFill>
                  <a:schemeClr val="tx1"/>
                </a:solidFill>
              </a:rPr>
              <a:t>Network admins, security analysts, students and developers – and also ISPs, teachers and anyone whose video call has ever frozen.</a:t>
            </a:r>
            <a:endParaRPr lang="en-US" dirty="0"/>
          </a:p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What causes the problem? </a:t>
            </a:r>
            <a:endParaRPr lang="en-US" sz="2200" b="1" dirty="0">
              <a:solidFill>
                <a:schemeClr val="tx2"/>
              </a:solidFill>
            </a:endParaRPr>
          </a:p>
          <a:p>
            <a:pPr indent="0">
              <a:lnSpc>
                <a:spcPct val="105000"/>
              </a:lnSpc>
              <a:spcAft>
                <a:spcPts val="2200"/>
              </a:spcAft>
              <a:buSzPct val="100000"/>
              <a:buNone/>
            </a:pPr>
            <a:r>
              <a:rPr lang="en-US" dirty="0">
                <a:solidFill>
                  <a:schemeClr val="tx1"/>
                </a:solidFill>
              </a:rPr>
              <a:t>Packets are a wall of numbers. Most tools are made for experts and show raw data, not simple answers, and capture, analysis and charts live in separate tools.</a:t>
            </a:r>
            <a:endParaRPr lang="en-US" dirty="0"/>
          </a:p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How does it affect them? </a:t>
            </a:r>
            <a:endParaRPr lang="en-US" sz="2200" b="1" dirty="0">
              <a:solidFill>
                <a:schemeClr val="tx2"/>
              </a:solidFill>
            </a:endParaRPr>
          </a:p>
          <a:p>
            <a:pPr marL="342900" indent="-342900">
              <a:lnSpc>
                <a:spcPct val="15000"/>
              </a:lnSpc>
              <a:spcAft>
                <a:spcPts val="2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Fixes take longer,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"/>
              </a:lnSpc>
              <a:spcAft>
                <a:spcPts val="2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attacks slip by unnoticed, 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"/>
              </a:lnSpc>
              <a:spcAft>
                <a:spcPts val="2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bandwidth gets wasted and learners never see how networks really work.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type="title" idx="106" hasCustomPrompt="1"/>
          </p:nvPr>
        </p:nvSpPr>
        <p:spPr>
          <a:xfrm>
            <a:off x="649224" y="54864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Existing Gaps &amp; Challenges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4700905" cy="521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b="1" dirty="0">
                <a:solidFill>
                  <a:schemeClr val="tx2"/>
                </a:solidFill>
              </a:rPr>
              <a:t>Powerful tools are too complex: </a:t>
            </a:r>
            <a:r>
              <a:rPr lang="en-US" dirty="0">
                <a:solidFill>
                  <a:schemeClr val="tx1"/>
                </a:solidFill>
              </a:rPr>
              <a:t>Wireshark throws hundreds of fields at a beginner, tcpdump is just text with no charts, and Snort / Suricata take real expertise to set up.</a:t>
            </a:r>
            <a:endParaRPr lang="en-US" dirty="0"/>
          </a:p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b="1" dirty="0">
                <a:solidFill>
                  <a:schemeClr val="tx2"/>
                </a:solidFill>
              </a:rPr>
              <a:t>Simple or paid options fall short: </a:t>
            </a:r>
            <a:r>
              <a:rPr lang="en-US" dirty="0">
                <a:solidFill>
                  <a:schemeClr val="tx1"/>
                </a:solidFill>
              </a:rPr>
              <a:t>ping / traceroute say something is wrong, not why. SolarWinds and PRTG are great but pricey and built for big firms.</a:t>
            </a:r>
            <a:endParaRPr lang="en-US" dirty="0"/>
          </a:p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b="1" dirty="0">
                <a:solidFill>
                  <a:schemeClr val="tx2"/>
                </a:solidFill>
              </a:rPr>
              <a:t>Main challenge that remains unsolved: </a:t>
            </a:r>
            <a:r>
              <a:rPr lang="en-US" dirty="0">
                <a:solidFill>
                  <a:schemeClr val="tx1"/>
                </a:solidFill>
              </a:rPr>
              <a:t>nobody offers a free, beginner-friendly tool that captures, explains, charts and warns, all in one place.</a:t>
            </a:r>
            <a:endParaRPr lang="en-US" dirty="0"/>
          </a:p>
        </p:txBody>
      </p:sp>
      <p:pic>
        <p:nvPicPr>
          <p:cNvPr id="4" name="Picture 3" descr="WhatsApp Image 2026-10-11 at 12.22.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4975" y="1075055"/>
            <a:ext cx="692150" cy="72453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440170" y="958850"/>
            <a:ext cx="2703830" cy="843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 dirty="0">
                <a:solidFill>
                  <a:schemeClr val="accent1"/>
                </a:solidFill>
                <a:sym typeface="+mn-ea"/>
              </a:rPr>
              <a:t>Wireshark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>
                <a:sym typeface="+mn-ea"/>
              </a:rPr>
              <a:t>Powerful, but scary for beginners</a:t>
            </a:r>
            <a:endParaRPr lang="en-US" b="0" dirty="0"/>
          </a:p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440170" y="2288540"/>
            <a:ext cx="2468880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 dirty="0">
                <a:solidFill>
                  <a:schemeClr val="accent1"/>
                </a:solidFill>
                <a:sym typeface="+mn-ea"/>
              </a:rPr>
              <a:t>Snort / Suricata</a:t>
            </a:r>
            <a:endParaRPr lang="en-US" b="1" dirty="0">
              <a:solidFill>
                <a:schemeClr val="accent1"/>
              </a:solidFill>
            </a:endParaRPr>
          </a:p>
          <a:p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459855" y="2733040"/>
            <a:ext cx="2449195" cy="695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dirty="0">
                <a:sym typeface="+mn-ea"/>
              </a:rPr>
              <a:t>T</a:t>
            </a:r>
            <a:r>
              <a:rPr lang="en-US" dirty="0">
                <a:sym typeface="+mn-ea"/>
              </a:rPr>
              <a:t>akes real expertise to set up</a:t>
            </a:r>
            <a:endParaRPr lang="en-US" b="0" dirty="0"/>
          </a:p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5967730" y="5111115"/>
            <a:ext cx="24460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chemeClr val="accent1"/>
                </a:solidFill>
                <a:sym typeface="+mn-ea"/>
              </a:rPr>
              <a:t>SolarWinds, PRTG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>
                <a:sym typeface="+mn-ea"/>
              </a:rPr>
              <a:t>Great, but pricey and built for big firms</a:t>
            </a:r>
            <a:endParaRPr lang="en-US" b="0" dirty="0"/>
          </a:p>
          <a:p>
            <a:endParaRPr lang="en-US"/>
          </a:p>
        </p:txBody>
      </p:sp>
      <p:pic>
        <p:nvPicPr>
          <p:cNvPr id="9" name="Picture 8" descr="WhatsApp Image 2026-10-11 at 12.27.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975" y="2288540"/>
            <a:ext cx="939800" cy="939800"/>
          </a:xfrm>
          <a:prstGeom prst="rect">
            <a:avLst/>
          </a:prstGeom>
        </p:spPr>
      </p:pic>
      <p:pic>
        <p:nvPicPr>
          <p:cNvPr id="10" name="Picture 9" descr="WhatsApp Image 2026-10-11 at 12.28.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870" y="3634105"/>
            <a:ext cx="2468880" cy="1271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type="title" idx="106" hasCustomPrompt="1"/>
          </p:nvPr>
        </p:nvSpPr>
        <p:spPr>
          <a:xfrm>
            <a:off x="649224" y="54864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Technical Approach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680960" cy="251460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914400" y="1280160"/>
            <a:ext cx="1627632" cy="1874520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137160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Your devices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74520"/>
            <a:ext cx="1444752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Wi-Fi / Ethernet traffic on a small test network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96896" y="2057400"/>
            <a:ext cx="25603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1280160"/>
            <a:ext cx="1627632" cy="1874520"/>
          </a:xfrm>
          <a:prstGeom prst="roundRect">
            <a:avLst>
              <a:gd name="adj" fmla="val 449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137160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Capture engine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1874520"/>
            <a:ext cx="1444752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Python + Scapy with Npcap / libpcap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90288" y="2057400"/>
            <a:ext cx="25603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01184" y="1280160"/>
            <a:ext cx="1627632" cy="1874520"/>
          </a:xfrm>
          <a:prstGeom prst="roundRect">
            <a:avLst>
              <a:gd name="adj" fmla="val 449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74336" y="137160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Analysis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92624" y="1874520"/>
            <a:ext cx="1444752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TCP, UDP, ICMP, DNS filters; summaries; alert rules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2057400"/>
            <a:ext cx="25603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94576" y="1280160"/>
            <a:ext cx="1627632" cy="1874520"/>
          </a:xfrm>
          <a:prstGeom prst="roundRect">
            <a:avLst>
              <a:gd name="adj" fmla="val 449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67728" y="137160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Dashboard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86016" y="1874520"/>
            <a:ext cx="1444752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Charts, alerts, export to CSV and PCAP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65760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Packets are captured live, analysed and filtered, then shown on one dashboard with alerts and exports.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804672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6177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29200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Frontend: </a:t>
            </a:r>
            <a:r>
              <a:rPr lang="en-US" sz="1400" dirty="0">
                <a:solidFill>
                  <a:schemeClr val="tx1"/>
                </a:solidFill>
              </a:rPr>
              <a:t>Dashboard with charts (Matplotlib)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65099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Backend: </a:t>
            </a:r>
            <a:r>
              <a:rPr lang="en-US" sz="1400" dirty="0">
                <a:solidFill>
                  <a:schemeClr val="tx1"/>
                </a:solidFill>
              </a:rPr>
              <a:t>Python + Scapy packet capture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502920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Database: </a:t>
            </a:r>
            <a:r>
              <a:rPr lang="en-US" sz="1400" dirty="0">
                <a:solidFill>
                  <a:schemeClr val="tx1"/>
                </a:solidFill>
              </a:rPr>
              <a:t>Pandas for analysis; CSV / PCAP export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5650992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AI/ML, APIs, or Hardware: </a:t>
            </a:r>
            <a:r>
              <a:rPr lang="en-US" sz="1400" dirty="0">
                <a:solidFill>
                  <a:schemeClr val="tx1"/>
                </a:solidFill>
              </a:rPr>
              <a:t>Laptop (8 GB RAM), Npcap / libpcap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type="title" idx="106" hasCustomPrompt="1"/>
          </p:nvPr>
        </p:nvSpPr>
        <p:spPr>
          <a:xfrm>
            <a:off x="649224" y="54864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Our Proposed Solution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8029575" cy="2962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000" b="1" dirty="0">
                <a:solidFill>
                  <a:schemeClr val="tx2"/>
                </a:solidFill>
              </a:rPr>
              <a:t>Core idea: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 network packet sniffer and analyzer that catches live traffic and shows it on a clean dashboard – who, where, which protocol, how big.</a:t>
            </a:r>
            <a:endParaRPr lang="en-US" dirty="0"/>
          </a:p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000" b="1" dirty="0">
                <a:solidFill>
                  <a:schemeClr val="tx2"/>
                </a:solidFill>
              </a:rPr>
              <a:t>How it works: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live capture, then filters for TCP, UDP, ICMP and DNS, then summaries and charts, plus friendly alerts when it spots port scans or traffic spikes.</a:t>
            </a:r>
            <a:endParaRPr lang="en-US" dirty="0"/>
          </a:p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000" b="1" dirty="0">
                <a:solidFill>
                  <a:schemeClr val="tx2"/>
                </a:solidFill>
              </a:rPr>
              <a:t>Main value to users: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beginners can actually read their traffic, slow or broken networks get fixed faster, and results export to CSV and PCAP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pic>
        <p:nvPicPr>
          <p:cNvPr id="4" name="Picture 3" descr="WhatsApp Image 2026-10-11 at 12.18.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155" y="4095115"/>
            <a:ext cx="8044815" cy="24358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type="title" idx="106" hasCustomPrompt="1"/>
          </p:nvPr>
        </p:nvSpPr>
        <p:spPr>
          <a:xfrm>
            <a:off x="649224" y="54864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Innovation &amp; Uniqueness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7680960" cy="521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What is new or different? </a:t>
            </a:r>
            <a:r>
              <a:rPr lang="en-US" sz="2200" dirty="0">
                <a:solidFill>
                  <a:schemeClr val="tx1"/>
                </a:solidFill>
              </a:rPr>
              <a:t>one tool that captures, explains, charts and warns, instead of juggling several separate tools.</a:t>
            </a:r>
            <a:endParaRPr lang="en-US" sz="2200" dirty="0"/>
          </a:p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Why is it suited to the problem? </a:t>
            </a:r>
            <a:r>
              <a:rPr lang="en-US" sz="2200" dirty="0">
                <a:solidFill>
                  <a:schemeClr val="tx1"/>
                </a:solidFill>
              </a:rPr>
              <a:t>it shows traffic as simple answers, not raw data, so beginners, students and small teams can use it on a regular laptop.</a:t>
            </a:r>
            <a:endParaRPr lang="en-US" sz="2200" dirty="0"/>
          </a:p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Key differentiator: </a:t>
            </a:r>
            <a:r>
              <a:rPr lang="en-US" sz="2200" dirty="0">
                <a:solidFill>
                  <a:schemeClr val="tx1"/>
                </a:solidFill>
              </a:rPr>
              <a:t>free and beginner-friendly, with built-in alerts for port scans and spikes – easy to use after one demo.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type="title" idx="106" hasCustomPrompt="1"/>
          </p:nvPr>
        </p:nvSpPr>
        <p:spPr>
          <a:xfrm>
            <a:off x="649224" y="54864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Feasibility &amp; Scalability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7680960" cy="521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Feasibility: </a:t>
            </a:r>
            <a:r>
              <a:rPr lang="en-US" sz="2200" dirty="0">
                <a:solidFill>
                  <a:schemeClr val="tx1"/>
                </a:solidFill>
              </a:rPr>
              <a:t>a regular laptop with 8 GB RAM, free tools (Python, Scapy, Npcap / libpcap, Pandas, Matplotlib), a team of four and a faculty mentor. Wireshark is used to double-check our results.</a:t>
            </a:r>
            <a:endParaRPr lang="en-US" sz="2200" dirty="0"/>
          </a:p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Scalability: </a:t>
            </a:r>
            <a:r>
              <a:rPr lang="en-US" sz="2200" dirty="0">
                <a:solidFill>
                  <a:schemeClr val="tx1"/>
                </a:solidFill>
              </a:rPr>
              <a:t>start on a small test network and a second device, then grow by adding more protocol filters and alert rules.</a:t>
            </a:r>
            <a:endParaRPr lang="en-US" sz="2200" dirty="0"/>
          </a:p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Risks: </a:t>
            </a:r>
            <a:r>
              <a:rPr lang="en-US" sz="2200" dirty="0">
                <a:solidFill>
                  <a:schemeClr val="tx1"/>
                </a:solidFill>
              </a:rPr>
              <a:t>we capture only on networks we are allowed to monitor, and use sample packet files for demos.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type="title" idx="106" hasCustomPrompt="1"/>
          </p:nvPr>
        </p:nvSpPr>
        <p:spPr>
          <a:xfrm>
            <a:off x="649224" y="54864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Cost for Product (Optional)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7680960" cy="521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Development or hardware cost: </a:t>
            </a:r>
            <a:r>
              <a:rPr lang="en-US" sz="2200" dirty="0">
                <a:solidFill>
                  <a:schemeClr val="tx1"/>
                </a:solidFill>
              </a:rPr>
              <a:t>free software (Python, Scapy, Npcap / libpcap, Pandas, Matplotlib) on a laptop the team already has.</a:t>
            </a:r>
            <a:endParaRPr lang="en-US" sz="2200" dirty="0"/>
          </a:p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Hosting or maintenance cost: </a:t>
            </a:r>
            <a:r>
              <a:rPr lang="en-US" sz="2200" dirty="0">
                <a:solidFill>
                  <a:schemeClr val="tx1"/>
                </a:solidFill>
              </a:rPr>
              <a:t>none expected – the tool runs on a local laptop.</a:t>
            </a:r>
            <a:endParaRPr lang="en-US" sz="2200" dirty="0"/>
          </a:p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Estimated total: </a:t>
            </a:r>
            <a:r>
              <a:rPr lang="en-US" sz="2200" dirty="0">
                <a:solidFill>
                  <a:schemeClr val="tx1"/>
                </a:solidFill>
              </a:rPr>
              <a:t>minimal – no expensive software needed.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type="title" idx="106" hasCustomPrompt="1"/>
          </p:nvPr>
        </p:nvSpPr>
        <p:spPr>
          <a:xfrm>
            <a:off x="649224" y="54864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Use Cases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7680960" cy="521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Use case 1: Network admin. </a:t>
            </a:r>
            <a:r>
              <a:rPr lang="en-US" sz="2200" dirty="0">
                <a:solidFill>
                  <a:schemeClr val="tx1"/>
                </a:solidFill>
              </a:rPr>
              <a:t>Wi-Fi acts up – the admin sees which device and app is eating the bandwidth and fixes it quickly.</a:t>
            </a:r>
            <a:endParaRPr lang="en-US" sz="2200" dirty="0"/>
          </a:p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Use case 2: Security analyst. </a:t>
            </a:r>
            <a:r>
              <a:rPr lang="en-US" sz="2200" dirty="0">
                <a:solidFill>
                  <a:schemeClr val="tx1"/>
                </a:solidFill>
              </a:rPr>
              <a:t>Port scans and traffic spikes are flagged by friendly alerts, so suspicious activity is caught early.</a:t>
            </a:r>
            <a:endParaRPr lang="en-US" sz="2200" dirty="0"/>
          </a:p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Use case 3: Student or teacher. </a:t>
            </a:r>
            <a:r>
              <a:rPr lang="en-US" sz="2200" dirty="0">
                <a:solidFill>
                  <a:schemeClr val="tx1"/>
                </a:solidFill>
              </a:rPr>
              <a:t>Watch a network work live in the lab, with protocol charts and sample packet files, instead of just reading about it.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type="title" idx="106" hasCustomPrompt="1"/>
          </p:nvPr>
        </p:nvSpPr>
        <p:spPr>
          <a:xfrm>
            <a:off x="649224" y="54864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Impacts and Benefits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7680960" cy="521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Benefit to target users: </a:t>
            </a:r>
            <a:r>
              <a:rPr lang="en-US" sz="2200" dirty="0">
                <a:solidFill>
                  <a:schemeClr val="tx1"/>
                </a:solidFill>
              </a:rPr>
              <a:t>anyone can read their network traffic; problems get fixed faster and threats get caught earlier.</a:t>
            </a:r>
            <a:endParaRPr lang="en-US" sz="2200" dirty="0"/>
          </a:p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Social and economic impact: </a:t>
            </a:r>
            <a:r>
              <a:rPr lang="en-US" sz="2200" dirty="0">
                <a:solidFill>
                  <a:schemeClr val="tx1"/>
                </a:solidFill>
              </a:rPr>
              <a:t>no expensive software needed, and learners pick up real networking and security skills.</a:t>
            </a:r>
            <a:endParaRPr lang="en-US" sz="2200" dirty="0"/>
          </a:p>
          <a:p>
            <a:pPr marL="304800" indent="-304800">
              <a:lnSpc>
                <a:spcPct val="105000"/>
              </a:lnSpc>
              <a:spcAft>
                <a:spcPts val="2200"/>
              </a:spcAft>
              <a:buSzPct val="100000"/>
              <a:buChar char="■"/>
            </a:pPr>
            <a:r>
              <a:rPr lang="en-US" sz="2200" b="1" dirty="0">
                <a:solidFill>
                  <a:schemeClr val="tx2"/>
                </a:solidFill>
              </a:rPr>
              <a:t>Expected measurable outcome: </a:t>
            </a:r>
            <a:r>
              <a:rPr lang="en-US" sz="2200" dirty="0">
                <a:solidFill>
                  <a:schemeClr val="tx1"/>
                </a:solidFill>
              </a:rPr>
              <a:t>filters and charts work, alerts fire, data exports to CSV and PCAP, and it beats doing it by hand.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type="title" idx="106" hasCustomPrompt="1"/>
          </p:nvPr>
        </p:nvSpPr>
        <p:spPr>
          <a:xfrm>
            <a:off x="649224" y="54864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Sustainable Development Goals (SDGs)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48640" y="1737360"/>
          <a:ext cx="8046720" cy="329184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2103120"/>
                <a:gridCol w="329184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SDG Number</a:t>
                      </a:r>
                      <a:endParaRPr lang="en-US" sz="17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Target Number</a:t>
                      </a:r>
                      <a:endParaRPr lang="en-US" sz="17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Goal Name</a:t>
                      </a:r>
                      <a:endParaRPr lang="en-US" sz="17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Connection</a:t>
                      </a:r>
                      <a:endParaRPr lang="en-US" sz="17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SDG 4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Target 4.4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Quality Education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Students learn networking and security by seeing live traffic, building practical technical skills.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SDG 9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Target 9.1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Industry, Innovation and Infrastructure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Helps keep networks reliable and secure by catching slowdowns and threats early.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type="title" idx="106" hasCustomPrompt="1"/>
          </p:nvPr>
        </p:nvSpPr>
        <p:spPr>
          <a:xfrm>
            <a:off x="649224" y="54864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Individual Member Contribution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731520" y="1234440"/>
          <a:ext cx="7680960" cy="4572000"/>
        </p:xfrm>
        <a:graphic>
          <a:graphicData uri="http://schemas.openxmlformats.org/drawingml/2006/table">
            <a:tbl>
              <a:tblPr/>
              <a:tblGrid>
                <a:gridCol w="2286000"/>
                <a:gridCol w="5394960"/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Member</a:t>
                      </a:r>
                      <a:endParaRPr lang="en-US" sz="17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Contribution or responsibility</a:t>
                      </a:r>
                      <a:endParaRPr lang="en-US" sz="17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Kavish Rahav D P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Team Lead &amp; Backend Developer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Builds the engine that catches packets and ties everything together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Karthikeyan K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Network &amp; Security Analyst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Works out what the traffic means and sets the alert rules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Ratchitha Kathiravan Vedhavalli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Frontend / UI Developer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Designs the dashboard you actually see and use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Jeyanthan S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Tester &amp; Documentation Lead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Tests everything, checks it against Wireshark, writes it all up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type="title" idx="106" hasCustomPrompt="1"/>
          </p:nvPr>
        </p:nvSpPr>
        <p:spPr>
          <a:xfrm>
            <a:off x="649224" y="54864"/>
            <a:ext cx="7132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Yukti ID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47088" y="2514600"/>
            <a:ext cx="5449824" cy="1655064"/>
          </a:xfrm>
          <a:prstGeom prst="roundRect">
            <a:avLst>
              <a:gd name="adj" fmla="val 11050"/>
            </a:avLst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048" y="2340864"/>
            <a:ext cx="1517904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813048" y="2340864"/>
            <a:ext cx="15179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Yukti ID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74320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2"/>
                </a:solidFill>
              </a:rPr>
              <a:t>[Enter Yukti ID]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Green">
  <a:themeElements>
    <a:clrScheme name="Genesis Green">
      <a:dk1>
        <a:srgbClr val="1A1A1A"/>
      </a:dk1>
      <a:lt1>
        <a:srgbClr val="FFFFFF"/>
      </a:lt1>
      <a:dk2>
        <a:srgbClr val="164B33"/>
      </a:dk2>
      <a:lt2>
        <a:srgbClr val="E0F0E6"/>
      </a:lt2>
      <a:accent1>
        <a:srgbClr val="246A47"/>
      </a:accent1>
      <a:accent2>
        <a:srgbClr val="F2F8F4"/>
      </a:accent2>
      <a:accent3>
        <a:srgbClr val="164B33"/>
      </a:accent3>
      <a:accent4>
        <a:srgbClr val="E0F0E6"/>
      </a:accent4>
      <a:accent5>
        <a:srgbClr val="246A47"/>
      </a:accent5>
      <a:accent6>
        <a:srgbClr val="9CC7AE"/>
      </a:accent6>
      <a:hlink>
        <a:srgbClr val="246A47"/>
      </a:hlink>
      <a:folHlink>
        <a:srgbClr val="164B33"/>
      </a:folHlink>
    </a:clrScheme>
    <a:fontScheme name="Genesis Gree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enesis Green">
  <a:themeElements>
    <a:clrScheme name="Genesis Green">
      <a:dk1>
        <a:srgbClr val="1A1A1A"/>
      </a:dk1>
      <a:lt1>
        <a:srgbClr val="FFFFFF"/>
      </a:lt1>
      <a:dk2>
        <a:srgbClr val="164B33"/>
      </a:dk2>
      <a:lt2>
        <a:srgbClr val="E0F0E6"/>
      </a:lt2>
      <a:accent1>
        <a:srgbClr val="246A47"/>
      </a:accent1>
      <a:accent2>
        <a:srgbClr val="F2F8F4"/>
      </a:accent2>
      <a:accent3>
        <a:srgbClr val="164B33"/>
      </a:accent3>
      <a:accent4>
        <a:srgbClr val="E0F0E6"/>
      </a:accent4>
      <a:accent5>
        <a:srgbClr val="246A47"/>
      </a:accent5>
      <a:accent6>
        <a:srgbClr val="9CC7AE"/>
      </a:accent6>
      <a:hlink>
        <a:srgbClr val="246A47"/>
      </a:hlink>
      <a:folHlink>
        <a:srgbClr val="164B33"/>
      </a:folHlink>
    </a:clrScheme>
    <a:fontScheme name="Genesis Gree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5714</Words>
  <Application>WPS Presentation</Application>
  <PresentationFormat>On-screen Show (16:9)</PresentationFormat>
  <Paragraphs>222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Microsoft YaHei</vt:lpstr>
      <vt:lpstr>Arial Unicode MS</vt:lpstr>
      <vt:lpstr>Genesis Green</vt:lpstr>
      <vt:lpstr>PowerPoint 演示文稿</vt:lpstr>
      <vt:lpstr>Presentation Outline</vt:lpstr>
      <vt:lpstr>Problem Statement</vt:lpstr>
      <vt:lpstr>Problem Understanding</vt:lpstr>
      <vt:lpstr>Existing Gaps &amp; Challenges</vt:lpstr>
      <vt:lpstr>Technical Approach</vt:lpstr>
      <vt:lpstr>Our Proposed Solution</vt:lpstr>
      <vt:lpstr>Innovation &amp; Uniqueness</vt:lpstr>
      <vt:lpstr>Feasibility &amp; Scalability</vt:lpstr>
      <vt:lpstr>Cost for Product (Optional)</vt:lpstr>
      <vt:lpstr>Use Cases</vt:lpstr>
      <vt:lpstr>Impacts and Benefits</vt:lpstr>
      <vt:lpstr>Sustainable Development Goals (SDGs)</vt:lpstr>
      <vt:lpstr>Individual Member Contribution</vt:lpstr>
      <vt:lpstr>Yukti ID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Ideathon: Final Presentation – HACK ORBIT</dc:title>
  <dc:creator>PptxGenJS</dc:creator>
  <dc:subject>PptxGenJS Presentation</dc:subject>
  <cp:lastModifiedBy>Ratchitha Kahiravan vedhavalli</cp:lastModifiedBy>
  <cp:revision>2</cp:revision>
  <dcterms:created xsi:type="dcterms:W3CDTF">2026-10-11T06:41:00Z</dcterms:created>
  <dcterms:modified xsi:type="dcterms:W3CDTF">2026-10-11T07:01:24Z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58B051866B384C08891746C1FD0E48AC_12</vt:lpwstr>
  </property>
</Properties>
</file>