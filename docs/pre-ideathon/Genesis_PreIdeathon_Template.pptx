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692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453355" y="1675599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2" name="Event Title"/>
          <p:cNvSpPr txBox="1"/>
          <p:nvPr/>
        </p:nvSpPr>
        <p:spPr>
          <a:xfrm>
            <a:off x="644652" y="5257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33400" y="2279181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5" name="Cover Fields"/>
          <p:cNvSpPr txBox="1"/>
          <p:nvPr/>
        </p:nvSpPr>
        <p:spPr>
          <a:xfrm>
            <a:off x="409054" y="3177540"/>
            <a:ext cx="82594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 HACK ORBIT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 KAVISH RAHAV D P - CB.AI.U4AID26016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</a:rPr>
              <a:t>                                KARTHIKEYAN K - CB.AI.U4AID26118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                               </a:t>
            </a:r>
            <a:r>
              <a:rPr lang="en-US" dirty="0">
                <a:solidFill>
                  <a:schemeClr val="bg1"/>
                </a:solidFill>
              </a:rPr>
              <a:t>JEYANTHAN S - CB.AI.U4AID26057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                            </a:t>
            </a:r>
            <a:r>
              <a:rPr lang="en-US" dirty="0">
                <a:solidFill>
                  <a:schemeClr val="bg1"/>
                </a:solidFill>
              </a:rPr>
              <a:t>   RATCHITHA KATHIRAVAN VEDHAVALLI - CB.AI.U4AID26032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 DIGITAL TECHNOLOGIES,AI &amp; CYBER SECURITY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 – BASIC NETWORK PACKET SNIFFER &amp; ANALYZER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729670" y="235151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388620" y="333141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486918" y="500019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591459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202436" y="416725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300" dirty="0">
                <a:solidFill>
                  <a:schemeClr val="accent5"/>
                </a:solidFill>
              </a:rPr>
              <a:t>HACK ORBIT</a:t>
            </a:r>
            <a:endParaRPr lang="en-US" sz="2000" dirty="0"/>
          </a:p>
        </p:txBody>
      </p:sp>
      <p:sp>
        <p:nvSpPr>
          <p:cNvPr id="7" name="Lead Icon Hex"/>
          <p:cNvSpPr/>
          <p:nvPr/>
        </p:nvSpPr>
        <p:spPr>
          <a:xfrm>
            <a:off x="59949" y="1370985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89" y="1431792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758532" y="133586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latin typeface="Arial Black" panose="020B0A04020102020204" pitchFamily="34" charset="0"/>
              </a:rPr>
              <a:t>BASIC NETWORK PACKET SNIFFER &amp; ANALYZER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480059" y="1838784"/>
            <a:ext cx="11711941" cy="447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 network packet sniffer captures the small data units, called packets, that travel between devices on a network.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 acts like a network microscope, showing real-time details such as source IP, destination IP, protocol, port number, packet size, and time.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 helps identify network problems such as slow internet, packet loss, failed connections, DNS errors, and high bandwidth usage.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 can detect unusual or suspicious traffic, helping users recognize possible cyber threats or unauthorized network activity.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it supports network troubleshooting, cybersecurity monitoring, performance analysis, and practical learning of computer-network concepts.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</a:rPr>
              <a:t>Why is it important?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Detects suspicious traffic and possible cyber </a:t>
            </a:r>
            <a:r>
              <a:rPr lang="en-US" dirty="0" err="1">
                <a:latin typeface="Aptos" panose="020B0004020202020204" pitchFamily="34" charset="0"/>
              </a:rPr>
              <a:t>attacksHelps</a:t>
            </a:r>
            <a:r>
              <a:rPr lang="en-US" dirty="0">
                <a:latin typeface="Aptos" panose="020B0004020202020204" pitchFamily="34" charset="0"/>
              </a:rPr>
              <a:t> find slow networks and connection </a:t>
            </a:r>
            <a:r>
              <a:rPr lang="en-US" dirty="0" err="1">
                <a:latin typeface="Aptos" panose="020B0004020202020204" pitchFamily="34" charset="0"/>
              </a:rPr>
              <a:t>failuresIdentifies</a:t>
            </a:r>
            <a:r>
              <a:rPr lang="en-US" dirty="0">
                <a:latin typeface="Aptos" panose="020B0004020202020204" pitchFamily="34" charset="0"/>
              </a:rPr>
              <a:t> packet loss, DNS errors, and blocked </a:t>
            </a:r>
            <a:r>
              <a:rPr lang="en-US" dirty="0" err="1">
                <a:latin typeface="Aptos" panose="020B0004020202020204" pitchFamily="34" charset="0"/>
              </a:rPr>
              <a:t>portsMonitors</a:t>
            </a:r>
            <a:r>
              <a:rPr lang="en-US" dirty="0">
                <a:latin typeface="Aptos" panose="020B0004020202020204" pitchFamily="34" charset="0"/>
              </a:rPr>
              <a:t> bandwidth usage by applications or </a:t>
            </a:r>
            <a:r>
              <a:rPr lang="en-US" dirty="0" err="1">
                <a:latin typeface="Aptos" panose="020B0004020202020204" pitchFamily="34" charset="0"/>
              </a:rPr>
              <a:t>devicesSupports</a:t>
            </a:r>
            <a:r>
              <a:rPr lang="en-US" dirty="0">
                <a:latin typeface="Aptos" panose="020B0004020202020204" pitchFamily="34" charset="0"/>
              </a:rPr>
              <a:t> faster troubleshooting and incident </a:t>
            </a:r>
            <a:r>
              <a:rPr lang="en-US" dirty="0" err="1">
                <a:latin typeface="Aptos" panose="020B0004020202020204" pitchFamily="34" charset="0"/>
              </a:rPr>
              <a:t>responseImproves</a:t>
            </a:r>
            <a:r>
              <a:rPr lang="en-US" dirty="0">
                <a:latin typeface="Aptos" panose="020B0004020202020204" pitchFamily="34" charset="0"/>
              </a:rPr>
              <a:t> practical understanding of network protocols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90427" y="6317889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7"/>
            <a:ext cx="1783080" cy="880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kern="0" spc="300" dirty="0">
                <a:solidFill>
                  <a:schemeClr val="accent5"/>
                </a:solidFill>
              </a:rPr>
              <a:t>HACK ORBIT</a:t>
            </a:r>
            <a:endParaRPr lang="en-US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005840" y="125211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16280" y="1980590"/>
            <a:ext cx="11475720" cy="248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b="1" i="1" u="sng" dirty="0"/>
              <a:t>Primary users</a:t>
            </a:r>
          </a:p>
          <a:p>
            <a:r>
              <a:rPr lang="en-IN" sz="1500" b="1" dirty="0"/>
              <a:t>Network administrators and IT support staff</a:t>
            </a:r>
            <a:r>
              <a:rPr lang="en-IN" sz="1500" dirty="0"/>
              <a:t> who must keep office, campus or enterprise networks running and need quick answers when users report slow internet, failed connections or DNS errors.</a:t>
            </a:r>
          </a:p>
          <a:p>
            <a:pPr lvl="0"/>
            <a:r>
              <a:rPr lang="en-IN" sz="1500" b="1" dirty="0"/>
              <a:t>Cybersecurity analysts and SOC teams</a:t>
            </a:r>
            <a:r>
              <a:rPr lang="en-IN" sz="1500" dirty="0"/>
              <a:t> who monitor traffic for port scans, unauthorized access attempts, data leaks and other signs of cyber attacks.</a:t>
            </a:r>
          </a:p>
          <a:p>
            <a:pPr lvl="0"/>
            <a:r>
              <a:rPr lang="en-IN" sz="1500" b="1" dirty="0"/>
              <a:t>Students and learners of computer networking</a:t>
            </a:r>
            <a:r>
              <a:rPr lang="en-IN" sz="1500" dirty="0"/>
              <a:t> who need a hands-on way to see how protocols such as TCP, UDP, ICMP, HTTP and DNS actually behave, instead of only reading theory.</a:t>
            </a:r>
          </a:p>
          <a:p>
            <a:pPr lvl="0"/>
            <a:r>
              <a:rPr lang="en-IN" sz="1500" b="1" dirty="0"/>
              <a:t>Developers and testers</a:t>
            </a:r>
            <a:r>
              <a:rPr lang="en-IN" sz="1500" dirty="0"/>
              <a:t> who debug application traffic, API calls and connectivity problems between services.</a:t>
            </a:r>
            <a:endParaRPr lang="en-US" sz="1500" dirty="0">
              <a:solidFill>
                <a:schemeClr val="tx1"/>
              </a:solidFill>
            </a:endParaRPr>
          </a:p>
          <a:p>
            <a:pPr lvl="0"/>
            <a:r>
              <a:rPr lang="en-IN" b="1" i="1" u="sng" dirty="0"/>
              <a:t>Secondary stakeholders</a:t>
            </a:r>
          </a:p>
          <a:p>
            <a:pPr lvl="0"/>
            <a:r>
              <a:rPr lang="en-IN" sz="1500" b="1" dirty="0"/>
              <a:t>Internet service providers and network operators</a:t>
            </a:r>
            <a:r>
              <a:rPr lang="en-IN" sz="1500" dirty="0"/>
              <a:t> who handle complaints about bandwidth, latency and packet loss.</a:t>
            </a:r>
          </a:p>
          <a:p>
            <a:pPr lvl="0"/>
            <a:r>
              <a:rPr lang="en-IN" sz="1500" b="1" dirty="0"/>
              <a:t>Everyday end users</a:t>
            </a:r>
            <a:r>
              <a:rPr lang="en-IN" sz="1500" dirty="0"/>
              <a:t> (employees, students, home users) whose browsing, video calls and online work suffer whenever the network is slow, unstable or compromised.</a:t>
            </a:r>
          </a:p>
          <a:p>
            <a:pPr lvl="0"/>
            <a:r>
              <a:rPr lang="en-IN" sz="1500" b="1" dirty="0"/>
              <a:t>Educators and trainers</a:t>
            </a:r>
            <a:r>
              <a:rPr lang="en-IN" sz="1500" dirty="0"/>
              <a:t> who need a simple tool to demonstrate network concepts in labs and classrooms</a:t>
            </a:r>
            <a:endParaRPr lang="en-IN" sz="1500" b="1" dirty="0"/>
          </a:p>
          <a:p>
            <a:pPr lvl="0"/>
            <a:r>
              <a:rPr lang="en-IN" sz="1500" b="1" dirty="0"/>
              <a:t>IT teams </a:t>
            </a:r>
            <a:r>
              <a:rPr lang="en-IN" sz="1500" dirty="0"/>
              <a:t>spend less time on manual packet filtering and can find the root cause of network faults faster, which means less downtime.</a:t>
            </a:r>
          </a:p>
          <a:p>
            <a:pPr lvl="0"/>
            <a:r>
              <a:rPr lang="en-IN" sz="1500" dirty="0"/>
              <a:t>Security teams get earlier warnings of suspicious traffic, so incidents can be contained before they spread.</a:t>
            </a:r>
          </a:p>
          <a:p>
            <a:pPr lvl="0"/>
            <a:r>
              <a:rPr lang="en-IN" sz="1500" b="1" dirty="0"/>
              <a:t>Organizations</a:t>
            </a:r>
            <a:r>
              <a:rPr lang="en-IN" sz="1500" dirty="0"/>
              <a:t> save money by using a</a:t>
            </a:r>
            <a:r>
              <a:rPr lang="en-IN" sz="1500" b="1" dirty="0"/>
              <a:t> lightweight</a:t>
            </a:r>
            <a:r>
              <a:rPr lang="en-IN" sz="1500" dirty="0"/>
              <a:t>, free tool instead of costly commercial software, while gaining better visibility into bandwidth usage by applications and devices.</a:t>
            </a:r>
          </a:p>
          <a:p>
            <a:pPr lvl="0"/>
            <a:r>
              <a:rPr lang="en-IN" sz="1500" b="1" dirty="0"/>
              <a:t>Students build real practical understanding </a:t>
            </a:r>
            <a:r>
              <a:rPr lang="en-IN" sz="1500" dirty="0"/>
              <a:t>of network protocols, which improves their skills and job readiness.</a:t>
            </a:r>
          </a:p>
          <a:p>
            <a:pPr lvl="0"/>
            <a:r>
              <a:rPr lang="en-IN" sz="1500" dirty="0"/>
              <a:t>End users get a more reliable and safer network experience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4334816" y="-353444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36092" y="1920240"/>
            <a:ext cx="11201908" cy="4979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600" b="1" i="1" u="sng" dirty="0"/>
              <a:t>Existing scenario and background</a:t>
            </a:r>
          </a:p>
          <a:p>
            <a:pPr lvl="0"/>
            <a:r>
              <a:rPr lang="en-IN" sz="1500" dirty="0"/>
              <a:t>Network traffic is growing rapidly because of web apps, cloud services, video streaming, online classes and IoT devices</a:t>
            </a:r>
          </a:p>
          <a:p>
            <a:pPr lvl="0"/>
            <a:r>
              <a:rPr lang="en-IN" sz="1500" dirty="0"/>
              <a:t>Organizations and colleges depend on the network for daily work, so even a short slowdown or outage affects many people at once</a:t>
            </a:r>
          </a:p>
          <a:p>
            <a:pPr lvl="0"/>
            <a:r>
              <a:rPr lang="en-IN" sz="1500" dirty="0"/>
              <a:t>Problems such as slow internet, packet loss, failed connections, DNS errors and blocked ports are hard to diagnose without packet-level visibility</a:t>
            </a:r>
          </a:p>
          <a:p>
            <a:pPr lvl="0"/>
            <a:r>
              <a:rPr lang="en-IN" sz="1500" dirty="0"/>
              <a:t>Cyber threats such as port scanning, malware communication and unauthorized access often hide inside normal-looking traffic</a:t>
            </a:r>
          </a:p>
          <a:p>
            <a:r>
              <a:rPr lang="en-IN" sz="1600" b="1" i="1" u="sng" dirty="0"/>
              <a:t>Relevant data or facts</a:t>
            </a:r>
            <a:endParaRPr lang="en-IN" sz="1600" i="1" u="sng" dirty="0"/>
          </a:p>
          <a:p>
            <a:pPr lvl="0"/>
            <a:r>
              <a:rPr lang="en-IN" sz="1500" dirty="0"/>
              <a:t>Tools like Wireshark and </a:t>
            </a:r>
            <a:r>
              <a:rPr lang="en-IN" sz="1500" dirty="0" err="1"/>
              <a:t>tcpdump</a:t>
            </a:r>
            <a:r>
              <a:rPr lang="en-IN" sz="1500" dirty="0"/>
              <a:t> exist, but they show raw packet data with hundreds of fields that overwhelm beginners</a:t>
            </a:r>
          </a:p>
          <a:p>
            <a:pPr lvl="0"/>
            <a:r>
              <a:rPr lang="en-IN" sz="1500" dirty="0"/>
              <a:t>A busy network can generate thousands of packets per second, so manual filtering is slow and error-prone</a:t>
            </a:r>
          </a:p>
          <a:p>
            <a:pPr lvl="0"/>
            <a:r>
              <a:rPr lang="en-IN" sz="1500" dirty="0"/>
              <a:t>Basic tools like ping, traceroute and </a:t>
            </a:r>
            <a:r>
              <a:rPr lang="en-IN" sz="1500" dirty="0" err="1"/>
              <a:t>nslookup</a:t>
            </a:r>
            <a:r>
              <a:rPr lang="en-IN" sz="1500" dirty="0"/>
              <a:t> only show that something is wrong, not why</a:t>
            </a:r>
          </a:p>
          <a:p>
            <a:pPr lvl="0"/>
            <a:r>
              <a:rPr lang="en-IN" sz="1500" dirty="0"/>
              <a:t>Commercial monitoring suites give better summaries but are costly and out of reach for students and small organizations</a:t>
            </a:r>
          </a:p>
          <a:p>
            <a:pPr lvl="0"/>
            <a:r>
              <a:rPr lang="en-IN" sz="1500" dirty="0"/>
              <a:t>Most tools do not explain what a protocol, port or packet means, which limits their value for learning</a:t>
            </a:r>
          </a:p>
          <a:p>
            <a:r>
              <a:rPr lang="en-IN" sz="1600" b="1" i="1" u="sng" dirty="0"/>
              <a:t>Current workflow, step by step</a:t>
            </a:r>
          </a:p>
          <a:p>
            <a:pPr lvl="0"/>
            <a:r>
              <a:rPr lang="en-IN" sz="1500" dirty="0"/>
              <a:t>A user reports a slow, unstable or failing connection</a:t>
            </a:r>
          </a:p>
          <a:p>
            <a:pPr lvl="0"/>
            <a:r>
              <a:rPr lang="en-IN" sz="1500" dirty="0"/>
              <a:t>The admin runs basic checks such as ping, traceroute and </a:t>
            </a:r>
            <a:r>
              <a:rPr lang="en-IN" sz="1500" dirty="0" err="1"/>
              <a:t>nslookup</a:t>
            </a:r>
            <a:r>
              <a:rPr lang="en-IN" sz="1500" dirty="0"/>
              <a:t> to test reachability and DNS</a:t>
            </a:r>
          </a:p>
          <a:p>
            <a:pPr lvl="0"/>
            <a:r>
              <a:rPr lang="en-IN" sz="1500" dirty="0"/>
              <a:t>A capture tool is started on the affected device or network interface</a:t>
            </a:r>
          </a:p>
          <a:p>
            <a:pPr lvl="0"/>
            <a:r>
              <a:rPr lang="en-IN" sz="1500" dirty="0"/>
              <a:t>The admin filters thousands of packets manually by IP address, port or protocol</a:t>
            </a:r>
          </a:p>
          <a:p>
            <a:pPr lvl="0"/>
            <a:r>
              <a:rPr lang="en-IN" sz="1500" dirty="0"/>
              <a:t>A fix is applied (change settings, block an IP, restart a service), and the user is asked to retry</a:t>
            </a:r>
          </a:p>
          <a:p>
            <a:pPr lvl="0"/>
            <a:r>
              <a:rPr lang="en-IN" sz="1500" dirty="0"/>
              <a:t>Little or no record of the analysis is kept, so the same issue is investigated again when it returns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E6738A-D887-B351-669B-875C271137C6}"/>
              </a:ext>
            </a:extLst>
          </p:cNvPr>
          <p:cNvSpPr txBox="1"/>
          <p:nvPr/>
        </p:nvSpPr>
        <p:spPr>
          <a:xfrm>
            <a:off x="1234440" y="548641"/>
            <a:ext cx="1751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300" dirty="0">
                <a:solidFill>
                  <a:schemeClr val="accent5"/>
                </a:solidFill>
              </a:rPr>
              <a:t>HACK ORBIT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04178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kern="0" spc="300" dirty="0">
                <a:solidFill>
                  <a:schemeClr val="accent5"/>
                </a:solidFill>
              </a:rPr>
              <a:t>HACK ORBIT</a:t>
            </a:r>
            <a:endParaRPr lang="en-US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36092" y="1948249"/>
            <a:ext cx="11561655" cy="4361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b="1" i="1" u="sng" dirty="0"/>
              <a:t>Main difficulties, bottlenecks, root causes and consequences</a:t>
            </a:r>
            <a:endParaRPr lang="en-IN" i="1" u="sng" dirty="0"/>
          </a:p>
          <a:p>
            <a:r>
              <a:rPr lang="en-IN" b="1" i="1" u="sng" dirty="0"/>
              <a:t>Main difficulties and bottlenecks</a:t>
            </a:r>
            <a:endParaRPr lang="en-IN" i="1" u="sng" dirty="0"/>
          </a:p>
          <a:p>
            <a:pPr lvl="0"/>
            <a:r>
              <a:rPr lang="en-IN" sz="1500" dirty="0"/>
              <a:t>Packet data is huge, unstructured and difficult to read, especially for beginners who do not know headers, flags and protocols</a:t>
            </a:r>
          </a:p>
          <a:p>
            <a:pPr lvl="0"/>
            <a:r>
              <a:rPr lang="en-IN" sz="1500" dirty="0"/>
              <a:t>Manual filtering and analysis take a lot of time, which delays troubleshooting and prolongs user complaints</a:t>
            </a:r>
          </a:p>
          <a:p>
            <a:pPr lvl="0"/>
            <a:r>
              <a:rPr lang="en-IN" sz="1500" dirty="0"/>
              <a:t>There is no quick, clear view of which devices or applications use the most bandwidth</a:t>
            </a:r>
          </a:p>
          <a:p>
            <a:pPr lvl="0"/>
            <a:r>
              <a:rPr lang="en-IN" sz="1500" dirty="0"/>
              <a:t>Intermittent problems such as packet loss and DNS errors are hard to catch because they appear only for short moments</a:t>
            </a:r>
          </a:p>
          <a:p>
            <a:pPr lvl="0"/>
            <a:r>
              <a:rPr lang="en-IN" sz="1500" dirty="0"/>
              <a:t>Switching between multiple tools for capture, filtering, analysis and reporting breaks the workflow</a:t>
            </a:r>
          </a:p>
          <a:p>
            <a:r>
              <a:rPr lang="en-IN" b="1" i="1" u="sng" dirty="0"/>
              <a:t>Root causes behind them</a:t>
            </a:r>
            <a:endParaRPr lang="en-IN" i="1" u="sng" dirty="0"/>
          </a:p>
          <a:p>
            <a:pPr lvl="0"/>
            <a:r>
              <a:rPr lang="en-IN" sz="1500" dirty="0"/>
              <a:t>Existing tools are built for experts, with complex interfaces and a steep learning curve</a:t>
            </a:r>
          </a:p>
          <a:p>
            <a:pPr lvl="0"/>
            <a:r>
              <a:rPr lang="en-IN" sz="1500" dirty="0"/>
              <a:t>They show raw data instead of simple real-time summaries such as top talkers, protocol share and traffic trends</a:t>
            </a:r>
          </a:p>
          <a:p>
            <a:pPr lvl="0"/>
            <a:r>
              <a:rPr lang="en-IN" sz="1500" dirty="0"/>
              <a:t>They offer little automatic detection of unusual patterns such as port scans, sudden traffic spikes and repeated failed connections</a:t>
            </a:r>
          </a:p>
          <a:p>
            <a:pPr lvl="0"/>
            <a:r>
              <a:rPr lang="en-IN" sz="1500" dirty="0"/>
              <a:t>Capture, analysis and visualization are usually separate steps instead of one connected tool</a:t>
            </a:r>
          </a:p>
          <a:p>
            <a:pPr lvl="0"/>
            <a:r>
              <a:rPr lang="en-IN" sz="1500" dirty="0"/>
              <a:t>Advanced and commercial solutions are costly, so students and small organizations cannot access them</a:t>
            </a:r>
          </a:p>
          <a:p>
            <a:r>
              <a:rPr lang="en-IN" b="1" i="1" u="sng" dirty="0"/>
              <a:t>Consequences of leaving them unsolved</a:t>
            </a:r>
            <a:endParaRPr lang="en-IN" i="1" u="sng" dirty="0"/>
          </a:p>
          <a:p>
            <a:pPr lvl="0"/>
            <a:r>
              <a:rPr lang="en-IN" sz="1500" dirty="0"/>
              <a:t>Cyber attacks, unauthorized access and data leaks go unnoticed until real damage has been done</a:t>
            </a:r>
          </a:p>
          <a:p>
            <a:pPr lvl="0"/>
            <a:r>
              <a:rPr lang="en-IN" sz="1500" dirty="0"/>
              <a:t>Bandwidth misuse by apps or devices continues unchecked, wasting resources and slowing the network for everyone</a:t>
            </a:r>
          </a:p>
          <a:p>
            <a:pPr lvl="0"/>
            <a:r>
              <a:rPr lang="en-IN" sz="1500" dirty="0"/>
              <a:t>Incident response stays slow because teams spend time finding the problem instead of fixing it</a:t>
            </a:r>
          </a:p>
          <a:p>
            <a:pPr lvl="0"/>
            <a:r>
              <a:rPr lang="en-IN" sz="1500" dirty="0"/>
              <a:t>Learners and new IT staff fail to build practical understanding of how network protocols actually work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35024" y="457200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kern="0" spc="300" dirty="0">
                <a:solidFill>
                  <a:schemeClr val="accent5"/>
                </a:solidFill>
              </a:rPr>
              <a:t>HACK ORBIT</a:t>
            </a:r>
            <a:endParaRPr lang="en-US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640080" y="2062997"/>
            <a:ext cx="11319059" cy="406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600" b="1" i="1" u="sng" dirty="0"/>
              <a:t>Existing methods, systems or alternatives</a:t>
            </a:r>
            <a:endParaRPr lang="en-IN" sz="1600" i="1" u="sng" dirty="0"/>
          </a:p>
          <a:p>
            <a:pPr lvl="0"/>
            <a:r>
              <a:rPr lang="en-IN" sz="1500" b="1" dirty="0"/>
              <a:t>Wireshark:</a:t>
            </a:r>
            <a:r>
              <a:rPr lang="en-IN" sz="1500" dirty="0"/>
              <a:t> a popular GUI packet </a:t>
            </a:r>
            <a:r>
              <a:rPr lang="en-IN" sz="1500" dirty="0" err="1"/>
              <a:t>analyzer</a:t>
            </a:r>
            <a:r>
              <a:rPr lang="en-IN" sz="1500" dirty="0"/>
              <a:t> that captures and decodes hundreds of protocols in detail</a:t>
            </a:r>
          </a:p>
          <a:p>
            <a:pPr lvl="0"/>
            <a:r>
              <a:rPr lang="en-IN" sz="1500" b="1" dirty="0" err="1"/>
              <a:t>tcpdump</a:t>
            </a:r>
            <a:r>
              <a:rPr lang="en-IN" sz="1500" b="1" dirty="0"/>
              <a:t>:</a:t>
            </a:r>
            <a:r>
              <a:rPr lang="en-IN" sz="1500" dirty="0"/>
              <a:t> a command-line tool for fast packet capture and filtering on servers and Linux systems</a:t>
            </a:r>
          </a:p>
          <a:p>
            <a:pPr lvl="0"/>
            <a:r>
              <a:rPr lang="en-IN" sz="1500" b="1" dirty="0"/>
              <a:t>Basic utilities (ping, traceroute, </a:t>
            </a:r>
            <a:r>
              <a:rPr lang="en-IN" sz="1500" b="1" dirty="0" err="1"/>
              <a:t>nslookup</a:t>
            </a:r>
            <a:r>
              <a:rPr lang="en-IN" sz="1500" b="1" dirty="0"/>
              <a:t>, netstat):</a:t>
            </a:r>
            <a:r>
              <a:rPr lang="en-IN" sz="1500" dirty="0"/>
              <a:t> quick checks for reachability, routes, DNS and open connections</a:t>
            </a:r>
          </a:p>
          <a:p>
            <a:pPr lvl="0"/>
            <a:r>
              <a:rPr lang="en-IN" sz="1500" b="1" dirty="0"/>
              <a:t>Commercial monitoring suites (SolarWinds, PRTG, ManageEngine):</a:t>
            </a:r>
            <a:r>
              <a:rPr lang="en-IN" sz="1500" dirty="0"/>
              <a:t> track bandwidth, device health and uptime with dashboards and reports</a:t>
            </a:r>
          </a:p>
          <a:p>
            <a:pPr lvl="0"/>
            <a:r>
              <a:rPr lang="en-IN" sz="1500" b="1" dirty="0"/>
              <a:t>Intrusion detection systems (Snort, Suricata):</a:t>
            </a:r>
            <a:r>
              <a:rPr lang="en-IN" sz="1500" dirty="0"/>
              <a:t> inspect traffic against predefined rules to detect known attacks</a:t>
            </a:r>
          </a:p>
          <a:p>
            <a:r>
              <a:rPr lang="en-IN" sz="1600" b="1" i="1" u="sng" dirty="0"/>
              <a:t>Limitations of each</a:t>
            </a:r>
            <a:endParaRPr lang="en-IN" sz="1600" i="1" u="sng" dirty="0"/>
          </a:p>
          <a:p>
            <a:pPr lvl="0"/>
            <a:r>
              <a:rPr lang="en-IN" sz="1500" b="1" dirty="0"/>
              <a:t>Wireshark:</a:t>
            </a:r>
            <a:r>
              <a:rPr lang="en-IN" sz="1500" dirty="0"/>
              <a:t> complex interface and a steep learning curve, and it shows raw detail without simple summaries or automatic alerts</a:t>
            </a:r>
          </a:p>
          <a:p>
            <a:pPr lvl="0"/>
            <a:r>
              <a:rPr lang="en-IN" sz="1500" b="1" dirty="0" err="1"/>
              <a:t>tcpdump</a:t>
            </a:r>
            <a:r>
              <a:rPr lang="en-IN" sz="1500" b="1" dirty="0"/>
              <a:t>:</a:t>
            </a:r>
            <a:r>
              <a:rPr lang="en-IN" sz="1500" dirty="0"/>
              <a:t> text-only output with no charts, so results are hard to read and interpret for beginners</a:t>
            </a:r>
          </a:p>
          <a:p>
            <a:pPr lvl="0"/>
            <a:r>
              <a:rPr lang="en-IN" sz="1500" b="1" dirty="0"/>
              <a:t>Basic utilities:</a:t>
            </a:r>
            <a:r>
              <a:rPr lang="en-IN" sz="1500" dirty="0"/>
              <a:t> show that something is wrong but not why, and give no packet-level visibility</a:t>
            </a:r>
          </a:p>
          <a:p>
            <a:pPr lvl="0"/>
            <a:r>
              <a:rPr lang="en-IN" sz="1500" b="1" dirty="0"/>
              <a:t>Commercial suites:</a:t>
            </a:r>
            <a:r>
              <a:rPr lang="en-IN" sz="1500" dirty="0"/>
              <a:t> costly, resource-heavy and aimed at large enterprises, so students and small teams cannot use them</a:t>
            </a:r>
          </a:p>
          <a:p>
            <a:pPr lvl="0"/>
            <a:r>
              <a:rPr lang="en-IN" sz="1500" b="1" dirty="0"/>
              <a:t>Snort/Suricata:</a:t>
            </a:r>
            <a:r>
              <a:rPr lang="en-IN" sz="1500" dirty="0"/>
              <a:t> difficult setup, rule writing and tuning, and they need security expertise to manage alerts</a:t>
            </a:r>
          </a:p>
          <a:p>
            <a:r>
              <a:rPr lang="en-IN" sz="1600" b="1" i="1" u="sng" dirty="0"/>
              <a:t>The gap they leave open (Key Challenges)</a:t>
            </a:r>
            <a:endParaRPr lang="en-IN" sz="1600" i="1" u="sng" dirty="0"/>
          </a:p>
          <a:p>
            <a:pPr lvl="0"/>
            <a:r>
              <a:rPr lang="en-IN" sz="1500" dirty="0"/>
              <a:t>There is no lightweight, free, beginner-friendly tool for real-time packet analysis</a:t>
            </a:r>
          </a:p>
          <a:p>
            <a:pPr lvl="0"/>
            <a:r>
              <a:rPr lang="en-IN" sz="1500" dirty="0"/>
              <a:t>Nothing combines capture, filtering, simple summaries, visual charts and automatic flagging of suspicious activity in one place</a:t>
            </a:r>
          </a:p>
          <a:p>
            <a:pPr lvl="0"/>
            <a:r>
              <a:rPr lang="en-IN" sz="1500" dirty="0"/>
              <a:t>Learners and small teams have no easy way to see and understand what is happening on their own network</a:t>
            </a:r>
          </a:p>
          <a:p>
            <a:pPr lvl="0"/>
            <a:r>
              <a:rPr lang="en-IN" sz="1500" dirty="0"/>
              <a:t>This gap leads directly to the key challenges: slow troubleshooting, undetected threats and weak practical learning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284732" y="476775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kern="0" spc="300" dirty="0">
                <a:solidFill>
                  <a:schemeClr val="accent5"/>
                </a:solidFill>
              </a:rPr>
              <a:t>HACK ORBIT</a:t>
            </a:r>
            <a:endParaRPr lang="en-US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09574" y="1858060"/>
            <a:ext cx="11653487" cy="44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b="1" dirty="0"/>
              <a:t>Resources required to solve the problem</a:t>
            </a:r>
            <a:endParaRPr lang="en-IN" dirty="0"/>
          </a:p>
          <a:p>
            <a:r>
              <a:rPr lang="en-IN" sz="1600" b="1" i="1" u="sng" dirty="0"/>
              <a:t>Hardware requirements</a:t>
            </a:r>
            <a:endParaRPr lang="en-IN" sz="1600" i="1" u="sng" dirty="0"/>
          </a:p>
          <a:p>
            <a:pPr lvl="0"/>
            <a:r>
              <a:rPr lang="en-IN" sz="1600" dirty="0"/>
              <a:t>Laptop or PC with a Wi-Fi/Ethernet network card that supports packet capture</a:t>
            </a:r>
          </a:p>
          <a:p>
            <a:pPr lvl="0"/>
            <a:r>
              <a:rPr lang="en-IN" sz="1600" dirty="0"/>
              <a:t>At least 8 GB RAM, a multi-core processor and 256 GB storage for running capture and storing logs</a:t>
            </a:r>
          </a:p>
          <a:p>
            <a:pPr lvl="0"/>
            <a:r>
              <a:rPr lang="en-IN" sz="1600" dirty="0"/>
              <a:t>A test network, such as a router, switch or mobile hotspot, to generate and capture real traffic</a:t>
            </a:r>
          </a:p>
          <a:p>
            <a:pPr lvl="0"/>
            <a:r>
              <a:rPr lang="en-IN" sz="1600" dirty="0"/>
              <a:t>A second device to simulate traffic, port scans and connection failures for testing</a:t>
            </a:r>
          </a:p>
          <a:p>
            <a:pPr lvl="0"/>
            <a:r>
              <a:rPr lang="en-IN" sz="1600" dirty="0"/>
              <a:t>Optional: USB Wi-Fi adapter that supports monitor mode for wireless capture</a:t>
            </a:r>
          </a:p>
          <a:p>
            <a:r>
              <a:rPr lang="en-IN" sz="1600" b="1" i="1" u="sng" dirty="0"/>
              <a:t>Software requirements</a:t>
            </a:r>
            <a:endParaRPr lang="en-IN" sz="1600" i="1" u="sng" dirty="0"/>
          </a:p>
          <a:p>
            <a:pPr lvl="0"/>
            <a:r>
              <a:rPr lang="en-IN" sz="1600" dirty="0"/>
              <a:t>Python 3 as the core language, with </a:t>
            </a:r>
            <a:r>
              <a:rPr lang="en-IN" sz="1600" dirty="0" err="1"/>
              <a:t>Scapy</a:t>
            </a:r>
            <a:r>
              <a:rPr lang="en-IN" sz="1600" dirty="0"/>
              <a:t> or </a:t>
            </a:r>
            <a:r>
              <a:rPr lang="en-IN" sz="1600" dirty="0" err="1"/>
              <a:t>PyShark</a:t>
            </a:r>
            <a:r>
              <a:rPr lang="en-IN" sz="1600" dirty="0"/>
              <a:t> for packet capture and parsing</a:t>
            </a:r>
          </a:p>
          <a:p>
            <a:pPr lvl="0"/>
            <a:r>
              <a:rPr lang="en-IN" sz="1600" dirty="0" err="1"/>
              <a:t>Npcap</a:t>
            </a:r>
            <a:r>
              <a:rPr lang="en-IN" sz="1600" dirty="0"/>
              <a:t> (Windows) or </a:t>
            </a:r>
            <a:r>
              <a:rPr lang="en-IN" sz="1600" dirty="0" err="1"/>
              <a:t>libpcap</a:t>
            </a:r>
            <a:r>
              <a:rPr lang="en-IN" sz="1600" dirty="0"/>
              <a:t> (Linux/macOS) as the capture driver</a:t>
            </a:r>
          </a:p>
          <a:p>
            <a:pPr lvl="0"/>
            <a:r>
              <a:rPr lang="en-IN" sz="1600" dirty="0"/>
              <a:t>Pandas for data handling and Matplotlib or </a:t>
            </a:r>
            <a:r>
              <a:rPr lang="en-IN" sz="1600" dirty="0" err="1"/>
              <a:t>Plotly</a:t>
            </a:r>
            <a:r>
              <a:rPr lang="en-IN" sz="1600" dirty="0"/>
              <a:t> for traffic charts</a:t>
            </a:r>
          </a:p>
          <a:p>
            <a:pPr lvl="0"/>
            <a:r>
              <a:rPr lang="en-IN" sz="1600" dirty="0"/>
              <a:t>Wireshark to verify and compare our results</a:t>
            </a:r>
          </a:p>
          <a:p>
            <a:pPr lvl="0"/>
            <a:r>
              <a:rPr lang="en-IN" sz="1600" dirty="0"/>
              <a:t>VS Code and Git/GitHub for development and version control</a:t>
            </a:r>
          </a:p>
          <a:p>
            <a:r>
              <a:rPr lang="en-IN" sz="1600" b="1" i="1" u="sng" dirty="0"/>
              <a:t>Other resources (including human resources)</a:t>
            </a:r>
            <a:endParaRPr lang="en-IN" sz="1600" i="1" u="sng" dirty="0"/>
          </a:p>
          <a:p>
            <a:pPr lvl="0"/>
            <a:r>
              <a:rPr lang="en-IN" sz="1600" dirty="0"/>
              <a:t>Sample .</a:t>
            </a:r>
            <a:r>
              <a:rPr lang="en-IN" sz="1600" dirty="0" err="1"/>
              <a:t>pcap</a:t>
            </a:r>
            <a:r>
              <a:rPr lang="en-IN" sz="1600" dirty="0"/>
              <a:t> datasets for repeatable testing and demos</a:t>
            </a:r>
          </a:p>
          <a:p>
            <a:pPr lvl="0"/>
            <a:r>
              <a:rPr lang="en-IN" sz="1600" dirty="0"/>
              <a:t>Four team members covering backend development, network and security analysis, frontend design, and testing and documentation</a:t>
            </a:r>
          </a:p>
          <a:p>
            <a:pPr lvl="0"/>
            <a:r>
              <a:rPr lang="en-IN" sz="1600" dirty="0"/>
              <a:t>A mentor or faculty guide for technical review and feedback</a:t>
            </a:r>
          </a:p>
          <a:p>
            <a:pPr lvl="0"/>
            <a:r>
              <a:rPr lang="en-IN" sz="1600" dirty="0"/>
              <a:t>Permission to capture traffic only on networks we own or are authorized to monitor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284732" y="448056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kern="0" spc="300" dirty="0">
                <a:solidFill>
                  <a:schemeClr val="accent5"/>
                </a:solidFill>
              </a:rPr>
              <a:t>HACK ORBIT</a:t>
            </a:r>
            <a:endParaRPr lang="en-US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1980589"/>
            <a:ext cx="11046512" cy="399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b="1" i="1" u="sng" dirty="0"/>
              <a:t>What your team intends to do</a:t>
            </a:r>
            <a:endParaRPr lang="en-IN" i="1" u="sng" dirty="0"/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Build a basic network packet sniffer and </a:t>
            </a:r>
            <a:r>
              <a:rPr lang="en-IN" dirty="0" err="1"/>
              <a:t>analyzer</a:t>
            </a:r>
            <a:r>
              <a:rPr lang="en-IN" dirty="0"/>
              <a:t> that captures live packets from the selected network interface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Display source IP, destination IP, protocol, port number, packet size and timestamp in a clean, real-time dashboard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Add filters, summaries and alerts so users can understand traffic without reading raw packet data</a:t>
            </a:r>
          </a:p>
          <a:p>
            <a:r>
              <a:rPr lang="en-IN" b="1" i="1" u="sng" dirty="0"/>
              <a:t>What you want to improve</a:t>
            </a:r>
            <a:endParaRPr lang="en-IN" i="1" u="sng" dirty="0"/>
          </a:p>
          <a:p>
            <a:pPr lvl="0"/>
            <a:r>
              <a:rPr lang="en-IN" dirty="0"/>
              <a:t>Make packet analysis simple and understandable for beginners as well as IT staff</a:t>
            </a:r>
          </a:p>
          <a:p>
            <a:pPr lvl="0"/>
            <a:r>
              <a:rPr lang="en-IN" dirty="0"/>
              <a:t>Speed up troubleshooting of slow networks, packet loss, failed connections and DNS errors</a:t>
            </a:r>
          </a:p>
          <a:p>
            <a:pPr lvl="0"/>
            <a:r>
              <a:rPr lang="en-IN" dirty="0"/>
              <a:t>Detect suspicious traffic such as port scans and traffic spikes automatically instead of by manual inspection</a:t>
            </a:r>
          </a:p>
          <a:p>
            <a:r>
              <a:rPr lang="en-IN" b="1" i="1" u="sng" dirty="0"/>
              <a:t>What successful improvement should you achieve</a:t>
            </a:r>
            <a:endParaRPr lang="en-IN" i="1" u="sng" dirty="0"/>
          </a:p>
          <a:p>
            <a:pPr lvl="0"/>
            <a:r>
              <a:rPr lang="en-IN" dirty="0"/>
              <a:t>Real-time capture with filters for TCP, UDP, ICMP and DNS, plus charts for top talkers and protocol share</a:t>
            </a:r>
          </a:p>
          <a:p>
            <a:pPr lvl="0"/>
            <a:r>
              <a:rPr lang="en-IN" dirty="0"/>
              <a:t>Automatic alerts for unusual activity, and export of captured data to CSV and PCAP</a:t>
            </a:r>
          </a:p>
          <a:p>
            <a:pPr lvl="0"/>
            <a:r>
              <a:rPr lang="en-IN" dirty="0"/>
              <a:t>Noticeably faster diagnosis than manual filtering, and a tool beginners can use after a short demo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284732" y="457200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kern="0" spc="300" dirty="0">
                <a:solidFill>
                  <a:schemeClr val="accent5"/>
                </a:solidFill>
              </a:rPr>
              <a:t>HACK ORBIT</a:t>
            </a:r>
            <a:endParaRPr lang="en-US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will handle which part of the execution</a:t>
            </a:r>
            <a:endParaRPr lang="en-US" sz="1800" dirty="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50871"/>
              </p:ext>
            </p:extLst>
          </p:nvPr>
        </p:nvGraphicFramePr>
        <p:xfrm>
          <a:off x="548640" y="2194560"/>
          <a:ext cx="11094415" cy="35661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KAVISH RAHAV D P </a:t>
                      </a:r>
                    </a:p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u="none" dirty="0"/>
                        <a:t>Team Lead &amp; Backend Developer</a:t>
                      </a:r>
                      <a:endParaRPr lang="en-US" sz="1400" b="1" u="none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Builds the packet capture engine, parses protocols and headers, and integrates all modules into one working 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KARTHIKEYAN K 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Network &amp; Security Analyst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Designs traffic analysis logic, protocol statistics and the rules that detect port scans, spikes and DNS errors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RATCHITHA KATHIRAVAN VEDHAVALLI 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Frontend / UI Developer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Creates the dashboard with the live packet table, charts, filters and alert display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JEYANTHAN S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Tester &amp; Documentation Lead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Tests with sample and live traffic, validates results against Wireshark, and prepares the final report and presentation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1929</Words>
  <Application>Microsoft Office PowerPoint</Application>
  <PresentationFormat>Widescreen</PresentationFormat>
  <Paragraphs>170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Black</vt:lpstr>
      <vt:lpstr>Calibri</vt:lpstr>
      <vt:lpstr>Cambria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kannan selvam</cp:lastModifiedBy>
  <cp:revision>3</cp:revision>
  <dcterms:created xsi:type="dcterms:W3CDTF">2026-10-07T15:27:40Z</dcterms:created>
  <dcterms:modified xsi:type="dcterms:W3CDTF">2026-10-09T16:27:22Z</dcterms:modified>
</cp:coreProperties>
</file>